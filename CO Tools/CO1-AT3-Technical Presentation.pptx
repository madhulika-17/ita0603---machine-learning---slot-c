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9" r:id="rId3"/>
    <p:sldId id="265" r:id="rId4"/>
    <p:sldId id="263" r:id="rId5"/>
    <p:sldId id="266" r:id="rId6"/>
    <p:sldId id="267" r:id="rId7"/>
    <p:sldId id="268" r:id="rId8"/>
    <p:sldId id="27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4CD66-21DA-D24A-BB4D-0FF05FA0060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BAFBE-84F0-644F-A5A4-0A6696E54C1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1950" y="361950"/>
            <a:ext cx="1132205" cy="1119505"/>
          </a:xfrm>
          <a:prstGeom prst="rect">
            <a:avLst/>
          </a:prstGeom>
        </p:spPr>
      </p:pic>
      <p:pic>
        <p:nvPicPr>
          <p:cNvPr id="3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741170" y="1761490"/>
            <a:ext cx="8709025" cy="2520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3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Inductive Bias in Machine Learning: The Foundation of Intelligent Generalization</a:t>
            </a:r>
            <a:endParaRPr lang="en-US" altLang="en-US" sz="3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048000" y="3121660"/>
            <a:ext cx="60960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3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ITA0603 - Machine Learning</a:t>
            </a:r>
            <a:endParaRPr lang="en-US" sz="34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00455" y="458406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Presented by :</a:t>
            </a:r>
            <a:endParaRPr 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V.Madhulika(192312620)</a:t>
            </a:r>
            <a:endParaRPr 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8805" y="1581785"/>
            <a:ext cx="6645275" cy="426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Times New Roman Bold" panose="02020503050405090304" charset="0"/>
                <a:cs typeface="Times New Roman Bold" panose="02020503050405090304" charset="0"/>
              </a:rPr>
              <a:t>Introduction :</a:t>
            </a: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What is Inductive Bias?</a:t>
            </a:r>
            <a:endParaRPr lang="en-US" altLang="en-US" sz="20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en-US" sz="20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Inductive bias is the set of assumptions a machine learning algorithm makes to predict unseen data.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It helps the model learn patterns from limited training data.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Without inductive bias, a model cannot generalize to new examples.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It is an essential concept in supervised learning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7244080" y="1833245"/>
            <a:ext cx="4758055" cy="3761105"/>
          </a:xfrm>
          <a:prstGeom prst="rect">
            <a:avLst/>
          </a:prstGeom>
        </p:spPr>
      </p:pic>
      <p:pic>
        <p:nvPicPr>
          <p:cNvPr id="3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361950"/>
            <a:ext cx="1132205" cy="1119505"/>
          </a:xfrm>
          <a:prstGeom prst="rect">
            <a:avLst/>
          </a:prstGeom>
        </p:spPr>
      </p:pic>
      <p:pic>
        <p:nvPicPr>
          <p:cNvPr id="5" name="object 3" descr="assets/institute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5575" y="1630045"/>
            <a:ext cx="6376035" cy="5702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Times New Roman Bold" panose="02020503050405090304" charset="0"/>
                <a:cs typeface="Times New Roman Bold" panose="02020503050405090304" charset="0"/>
              </a:rPr>
              <a:t>Types of Inductive Bias :</a:t>
            </a: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1. Restriction Bias</a:t>
            </a:r>
            <a:endParaRPr lang="en-US" altLang="en-US" sz="20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Limits the hypotheses the model can consider.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Example:</a:t>
            </a: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 Decision Trees allow only tree-structured rules.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2. Preference Bias</a:t>
            </a:r>
            <a:endParaRPr lang="en-US" altLang="en-US" sz="20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Allows many hypotheses but prefers simpler or more suitable ones.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Example:</a:t>
            </a: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 Choosing the smallest decision tree with the highest accuracy.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40805" y="1369695"/>
            <a:ext cx="5285740" cy="3498215"/>
          </a:xfrm>
          <a:prstGeom prst="rect">
            <a:avLst/>
          </a:prstGeom>
        </p:spPr>
      </p:pic>
      <p:pic>
        <p:nvPicPr>
          <p:cNvPr id="3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361950"/>
            <a:ext cx="1132205" cy="1119505"/>
          </a:xfrm>
          <a:prstGeom prst="rect">
            <a:avLst/>
          </a:prstGeom>
        </p:spPr>
      </p:pic>
      <p:pic>
        <p:nvPicPr>
          <p:cNvPr id="5" name="object 3" descr="assets/institute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15620" y="1427480"/>
            <a:ext cx="100076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latin typeface="Times New Roman Bold" panose="02020503050405090304" charset="0"/>
                <a:cs typeface="Times New Roman Bold" panose="02020503050405090304" charset="0"/>
              </a:rPr>
              <a:t>Importance of Inductive Bias</a:t>
            </a: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Why is it Important?</a:t>
            </a:r>
            <a:endParaRPr lang="en-US" altLang="en-US" sz="20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Enables prediction of unseen data.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Reduces overfitting.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Improves learning speed.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Produces better generalization.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Makes machine learning practical.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>
                <a:latin typeface="Times New Roman Bold" panose="02020503050405090304" charset="0"/>
                <a:cs typeface="Times New Roman Bold" panose="02020503050405090304" charset="0"/>
              </a:rPr>
              <a:t>Example</a:t>
            </a:r>
            <a:endParaRPr lang="en-US" altLang="en-US" sz="20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Email Spam Detection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Training emails are labeled as Spam or Not Spam.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The model assumes similar future emails belong to the same class.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6876415" y="1661795"/>
            <a:ext cx="5109210" cy="4377690"/>
          </a:xfrm>
          <a:prstGeom prst="rect">
            <a:avLst/>
          </a:prstGeom>
        </p:spPr>
      </p:pic>
      <p:pic>
        <p:nvPicPr>
          <p:cNvPr id="4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361950"/>
            <a:ext cx="1132205" cy="1119505"/>
          </a:xfrm>
          <a:prstGeom prst="rect">
            <a:avLst/>
          </a:prstGeom>
        </p:spPr>
      </p:pic>
      <p:pic>
        <p:nvPicPr>
          <p:cNvPr id="5" name="object 3" descr="assets/institute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62915" y="1222375"/>
            <a:ext cx="7465060" cy="670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b="1">
                <a:latin typeface="Times New Roman Bold" panose="02020503050405090304" charset="0"/>
                <a:cs typeface="Times New Roman Bold" panose="02020503050405090304" charset="0"/>
              </a:rPr>
              <a:t>Applications and Challenges :</a:t>
            </a:r>
            <a:endParaRPr lang="en-US" altLang="en-US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1">
                <a:latin typeface="Times New Roman Bold" panose="02020503050405090304" charset="0"/>
                <a:cs typeface="Times New Roman Bold" panose="02020503050405090304" charset="0"/>
              </a:rPr>
              <a:t>Applications :</a:t>
            </a:r>
            <a:endParaRPr lang="en-US" altLang="en-US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Medical diagnosis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Image recognition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Speech recognition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Recommendation systems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Fraud detection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1">
                <a:latin typeface="Times New Roman Bold" panose="02020503050405090304" charset="0"/>
                <a:cs typeface="Times New Roman Bold" panose="02020503050405090304" charset="0"/>
              </a:rPr>
              <a:t>Challenges :</a:t>
            </a:r>
            <a:endParaRPr lang="en-US" altLang="en-US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Poor-quality data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Wrong assumptions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Overfitting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Underfitting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Computational complexity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5619750" y="1631315"/>
            <a:ext cx="5922010" cy="4979035"/>
          </a:xfrm>
          <a:prstGeom prst="rect">
            <a:avLst/>
          </a:prstGeom>
        </p:spPr>
      </p:pic>
      <p:pic>
        <p:nvPicPr>
          <p:cNvPr id="2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45" y="179070"/>
            <a:ext cx="1132205" cy="1119505"/>
          </a:xfrm>
          <a:prstGeom prst="rect">
            <a:avLst/>
          </a:prstGeom>
        </p:spPr>
      </p:pic>
      <p:pic>
        <p:nvPicPr>
          <p:cNvPr id="3" name="object 3" descr="assets/institute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51230" y="997585"/>
            <a:ext cx="8562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35585" y="1588135"/>
            <a:ext cx="6127750" cy="5080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50000"/>
              </a:lnSpc>
            </a:pPr>
            <a:r>
              <a:rPr lang="en-US" altLang="en-US" sz="2400" b="1">
                <a:latin typeface="Times New Roman Bold" panose="02020503050405090304" charset="0"/>
                <a:cs typeface="Times New Roman Bold" panose="02020503050405090304" charset="0"/>
              </a:rPr>
              <a:t>Conclusion :</a:t>
            </a: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Inductive bias is essential for machine learning.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It enables models to generalize beyond training data.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Restriction bias narrows the hypothesis space.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Preference bias selects the most suitable hypothesis.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Choosing the right bias improves accuracy and model performance.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"/>
            </a:pP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598285" y="1365885"/>
            <a:ext cx="5156200" cy="5081270"/>
          </a:xfrm>
          <a:prstGeom prst="rect">
            <a:avLst/>
          </a:prstGeom>
        </p:spPr>
      </p:pic>
      <p:pic>
        <p:nvPicPr>
          <p:cNvPr id="5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361950"/>
            <a:ext cx="1132205" cy="1119505"/>
          </a:xfrm>
          <a:prstGeom prst="rect">
            <a:avLst/>
          </a:prstGeom>
        </p:spPr>
      </p:pic>
      <p:pic>
        <p:nvPicPr>
          <p:cNvPr id="6" name="object 3" descr="assets/institute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1950" y="361950"/>
            <a:ext cx="1132205" cy="1119505"/>
          </a:xfrm>
          <a:prstGeom prst="rect">
            <a:avLst/>
          </a:prstGeom>
        </p:spPr>
      </p:pic>
      <p:pic>
        <p:nvPicPr>
          <p:cNvPr id="3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Thank You </a:t>
            </a:r>
            <a:endParaRPr lang="en-US" altLang="en-US" sz="54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1596</Words>
  <Application>WPS Presentation</Application>
  <PresentationFormat>Widescreen</PresentationFormat>
  <Paragraphs>66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Times New Roman Regular</vt:lpstr>
      <vt:lpstr>Times New Roman Bold</vt:lpstr>
      <vt:lpstr>Wingdings</vt:lpstr>
      <vt:lpstr>Calibri</vt:lpstr>
      <vt:lpstr>Helvetica Neue</vt:lpstr>
      <vt:lpstr>Microsoft YaHei</vt:lpstr>
      <vt:lpstr>汉仪旗黑</vt:lpstr>
      <vt:lpstr>Arial Unicode MS</vt:lpstr>
      <vt:lpstr>Aptos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madhulikavanjavaka</cp:lastModifiedBy>
  <cp:revision>9</cp:revision>
  <dcterms:created xsi:type="dcterms:W3CDTF">2026-07-26T06:27:39Z</dcterms:created>
  <dcterms:modified xsi:type="dcterms:W3CDTF">2026-07-26T06:27:39Z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8835BCB19C61DAD9DBA8656AE3ACA982_43</vt:lpwstr>
  </property>
  <property fmtid="{D5CDD505-2E9C-101B-9397-08002B2CF9AE}" pid="3" name="KSOProductBuildVer">
    <vt:lpwstr>1033-6.12.2.8699</vt:lpwstr>
  </property>
</Properties>
</file>